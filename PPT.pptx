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quantumblack/our-insights/the-state-of-ai" TargetMode="External"/><Relationship Id="rId7" Type="http://schemas.openxmlformats.org/officeDocument/2006/relationships/hyperlink" Target="https://arxiv.org/abs/2501.14249" TargetMode="External"/><Relationship Id="rId2" Type="http://schemas.openxmlformats.org/officeDocument/2006/relationships/hyperlink" Target="https://aiindex.stanford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ve.ics.uci.edu/ml/datasets/heart+disease" TargetMode="External"/><Relationship Id="rId5" Type="http://schemas.openxmlformats.org/officeDocument/2006/relationships/hyperlink" Target="https://deepmind.google/technologies/gemini" TargetMode="External"/><Relationship Id="rId4" Type="http://schemas.openxmlformats.org/officeDocument/2006/relationships/hyperlink" Target="https://openai.com/research/gpt-4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4464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2200" b="1" dirty="0"/>
              <a:t>Artificial Intelligence: The Gap Between Expectations and Real-World Performance</a:t>
            </a:r>
            <a:endParaRPr lang="en-IN" sz="22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/>
              <a:t>Dr. Swati Goel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/>
              <a:t>Assistant Professor (Zeta Cluster)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DA3685-5E8E-511E-0BA0-DDAD9AAE9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518885"/>
              </p:ext>
            </p:extLst>
          </p:nvPr>
        </p:nvGraphicFramePr>
        <p:xfrm>
          <a:off x="830580" y="3061916"/>
          <a:ext cx="7482840" cy="7010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780">
                  <a:extLst>
                    <a:ext uri="{9D8B030D-6E8A-4147-A177-3AD203B41FA5}">
                      <a16:colId xmlns:a16="http://schemas.microsoft.com/office/drawing/2014/main" val="1850928172"/>
                    </a:ext>
                  </a:extLst>
                </a:gridCol>
                <a:gridCol w="2523031">
                  <a:extLst>
                    <a:ext uri="{9D8B030D-6E8A-4147-A177-3AD203B41FA5}">
                      <a16:colId xmlns:a16="http://schemas.microsoft.com/office/drawing/2014/main" val="78516123"/>
                    </a:ext>
                  </a:extLst>
                </a:gridCol>
                <a:gridCol w="2456029">
                  <a:extLst>
                    <a:ext uri="{9D8B030D-6E8A-4147-A177-3AD203B41FA5}">
                      <a16:colId xmlns:a16="http://schemas.microsoft.com/office/drawing/2014/main" val="3211433643"/>
                    </a:ext>
                  </a:extLst>
                </a:gridCol>
              </a:tblGrid>
              <a:tr h="7010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 Gurseerat Singh Sidhu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2210991599 </a:t>
                      </a:r>
                    </a:p>
                  </a:txBody>
                  <a:tcPr marL="6350" marR="635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 Ritvik Sachdeva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2210990733 </a:t>
                      </a:r>
                    </a:p>
                  </a:txBody>
                  <a:tcPr marL="6350" marR="635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 Riya Kundra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IN" sz="1800" b="0" kern="100" dirty="0">
                          <a:solidFill>
                            <a:schemeClr val="tx1"/>
                          </a:solidFill>
                          <a:effectLst/>
                        </a:rPr>
                        <a:t>2210990735</a:t>
                      </a:r>
                    </a:p>
                  </a:txBody>
                  <a:tcPr marL="6350" marR="635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2509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111888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investment exceeded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$180 billion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globally between 2024–2025.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showed strong performance in reasoning, coding, and multimodal benchmarks.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automation, faster workflows, and higher productivity.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2026, many companies struggled with AI integration and measurable ROI.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mismatch between expectations and real-world performance is called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Reality Gap.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supervision remains necessary due to AI errors and hallucinations.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Poor-quality and unstructured enterprise data reduces AI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resistance and workflow adaptation slow successful AI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F6F5-69F0-56DE-38EF-9F05AF6F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92CDB-17E1-D432-1C6E-A57FD4F9DF5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3956" y="914040"/>
            <a:ext cx="8746434" cy="580481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uses two case studies to examine the AI Reality Gap.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case study,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Intelligence in Healthcare (Mayo Clinic) is mainly about: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case study, cross-model hallucination experiment using: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AI Mode.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experiments conducted using Python and Google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Heart Disease dataset used to study data quality degradation.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tested under missing, corrupt, and mixed noise conditions.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J-Curve mathematically modelled using Stanford AI Index and McKinsey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compares controlled benchmark performance with real-world deployment outcomes.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2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277E-AC08-6E22-4196-2D59747B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34F621-A290-AD9F-60FA-0F7F18ADD7F4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33347" y="1092682"/>
            <a:ext cx="849194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used for experiments and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as the development and execution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model used for data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UCI Heart Disease Dataset used for clinical data experiments.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 ChatGPT used for reasoning and hallucination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AI Mode used for cross-model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modelling used for Productivity J-Curve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references included Stanford AI Index 2025 and McKinsey AI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6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F751-AD34-4AB6-D077-26B9ED5A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ED67C2-688E-B2EB-03F7-9F2CA6C9F229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33346" y="1020902"/>
            <a:ext cx="862607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technical experiments were designed to study the AI Reality Gap.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1 analyzed how poor-quality data affects AI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injection techniques used: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 noise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Corruption noise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model trained and tested at different noise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2 implemented the Productivity J-Curve using mathematical modelling.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adoption scenarios simulated: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adoption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enterprise adoption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Proof-of-concept trap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experiments implemented using Python on Google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compared with real-world case studies for practical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42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3C5A-9F2B-6B0D-DD12-09C372AF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1BF68E-6697-346A-F5CE-6722D12BFFA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01542" y="1025422"/>
            <a:ext cx="84582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model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85.25%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clean clinical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dropped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59.02%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full mixed-noise corruption.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Poor-quality enterprise data significantly reduced AI reliability and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Mayo Clinic achieved successful AI deployment through clean data and human oversight.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Cross-model hallucination experiment showed AI can produce confident but incorrect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Productivity J-Curve showed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adoption strongly affects AI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adoption scenario reached productivity score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132.0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failed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adoption reached 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103.9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concluded that the AI Reality Gap is mainly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a model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97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F454-54F7-E962-715F-09435B48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Conclusion/Future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E82F89-0044-710E-9ED2-8B26226BE20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57200" y="923458"/>
            <a:ext cx="811987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AI Reality Gap is mainly caused by deployment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issues, not lack of AI capability.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data and structured workflows are essential for reliable AI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oversight remains necessary in high-risk AI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Poor-quality enterprise data can significantly reduce AI accuracy and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AI adoption depends on proper integration, governance, and long-term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investment.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Explore Retrieval-Augmented Generation (RAG) systems to reduce hallucinations.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Conduct long-term studies on AI adoption across enterprises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Apply noise injection experiments to finance, legal, and manufacturing datasets.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Study multi-model AI systems and chained reasoning failures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Develop stronger human-in-the-loop verification frameworks for high-risk AI applications.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8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B0AA-A8E8-44C1-FA8F-EC2B6930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88F0DE-E3DD-ED06-7617-D7D170DF14FB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41298" y="1207891"/>
            <a:ext cx="8428382" cy="457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Stanford University Human-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Index Report 2025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Stanford University, Stanford, CA, USA, 2025.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https://aiindex.stanford.edu</a:t>
            </a:r>
            <a:b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AI in 2024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McKinsey Global Institute, New York, NY, USA, 2024.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https://www.mckinsey.com/capabilities/quantumblack/our-insights/the-state-of-ai</a:t>
            </a:r>
            <a:b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 Research,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Analytics Trend Monitor 2025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Business Application Research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Würzburg, Germany, 2025.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Nair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"Artificial Intelligence–Electrocardiography to Predict Incident Atrial Fibrillation,"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Mayo Clinic Proceedings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97, no. 9, pp. 1638–1648, Sep. 2022.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 Technical Report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OpenAI, San Francisco, CA, USA, 2023.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https://openai.com/research/gpt-4</a:t>
            </a:r>
            <a:b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Gemini: A Family of Highly Capable Multimodal Models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Google DeepMind, Mountain View, CA, USA, 2023.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https://deepmind.google/technologies/gemini</a:t>
            </a:r>
            <a:b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Lichman,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Repository: Heart Disease Dataset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University of California, Irvine, School of Information and Computer Sciences, Irvine, CA, USA, 2013.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https://archive.ics.uci.edu/ml/datasets/heart+disease</a:t>
            </a:r>
            <a:b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"Random Forests,"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45, no. 1, pp. 5–32, Oct. 2001.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Brynjolfsson, D. Rock, and C. Syverson, "Artificial Intelligence and the Modern Productivity Paradox: A Clash of Expectations and Statistics," in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Economics of Artificial Intelligence: An Agenda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Agrawal, J. Gans, and A. Goldfarb, Eds. Chicago, IL: University of Chicago Press, 2019, pp. 23–57.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Hendrycks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"Humanity's Last Exam," </a:t>
            </a:r>
            <a:r>
              <a:rPr lang="en-I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arXiv:2501.14249, 2025. [Online]. Available: </a:t>
            </a:r>
            <a:r>
              <a:rPr lang="en-IN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https://arxiv.org/abs/2501.14249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30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34824</TotalTime>
  <Words>1076</Words>
  <Application>Microsoft Office PowerPoint</Application>
  <PresentationFormat>On-screen Show (4:3)</PresentationFormat>
  <Paragraphs>109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Methodology</vt:lpstr>
      <vt:lpstr>Tools and technologies</vt:lpstr>
      <vt:lpstr>Implementation</vt:lpstr>
      <vt:lpstr>Results</vt:lpstr>
      <vt:lpstr>Conclusion/Future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Ritvik Sachdeva</cp:lastModifiedBy>
  <cp:revision>2302</cp:revision>
  <dcterms:created xsi:type="dcterms:W3CDTF">2010-04-09T07:36:15Z</dcterms:created>
  <dcterms:modified xsi:type="dcterms:W3CDTF">2026-05-17T07:30:45Z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